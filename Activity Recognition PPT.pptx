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ilfY/qVzkluF4pfKNHE3XwYjGb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21"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4346eb09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a4346eb09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e0fa41bf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ae0fa41bf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ae0fa41bf3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ae0fa41bf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3"/>
          <p:cNvSpPr/>
          <p:nvPr>
            <p:ph idx="2" type="pic"/>
          </p:nvPr>
        </p:nvSpPr>
        <p:spPr>
          <a:xfrm>
            <a:off x="5183188" y="987425"/>
            <a:ext cx="6172200" cy="4873625"/>
          </a:xfrm>
          <a:prstGeom prst="rect">
            <a:avLst/>
          </a:prstGeom>
          <a:noFill/>
          <a:ln>
            <a:noFill/>
          </a:ln>
        </p:spPr>
      </p:sp>
      <p:sp>
        <p:nvSpPr>
          <p:cNvPr id="64" name="Google Shape;64;p2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idx="1" type="subTitle"/>
          </p:nvPr>
        </p:nvSpPr>
        <p:spPr>
          <a:xfrm>
            <a:off x="777238" y="1708875"/>
            <a:ext cx="10829109" cy="145932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4C4C4C"/>
              </a:buClr>
              <a:buSzPts val="4800"/>
              <a:buNone/>
            </a:pPr>
            <a:r>
              <a:rPr b="1" lang="en-US" sz="4800">
                <a:solidFill>
                  <a:srgbClr val="4C4C4C"/>
                </a:solidFill>
                <a:latin typeface="Arial"/>
                <a:ea typeface="Arial"/>
                <a:cs typeface="Arial"/>
                <a:sym typeface="Arial"/>
              </a:rPr>
              <a:t>Activity Recognition from Wearable Sensor </a:t>
            </a:r>
            <a:endParaRPr sz="4800"/>
          </a:p>
        </p:txBody>
      </p:sp>
      <p:pic>
        <p:nvPicPr>
          <p:cNvPr id="85" name="Google Shape;85;p1"/>
          <p:cNvPicPr preferRelativeResize="0"/>
          <p:nvPr/>
        </p:nvPicPr>
        <p:blipFill rotWithShape="1">
          <a:blip r:embed="rId3">
            <a:alphaModFix/>
          </a:blip>
          <a:srcRect b="0" l="0" r="0" t="0"/>
          <a:stretch/>
        </p:blipFill>
        <p:spPr>
          <a:xfrm>
            <a:off x="39186" y="203019"/>
            <a:ext cx="2038350" cy="1409700"/>
          </a:xfrm>
          <a:prstGeom prst="rect">
            <a:avLst/>
          </a:prstGeom>
          <a:noFill/>
          <a:ln>
            <a:noFill/>
          </a:ln>
        </p:spPr>
      </p:pic>
      <p:sp>
        <p:nvSpPr>
          <p:cNvPr id="86" name="Google Shape;86;p1"/>
          <p:cNvSpPr txBox="1"/>
          <p:nvPr/>
        </p:nvSpPr>
        <p:spPr>
          <a:xfrm>
            <a:off x="777238" y="3406491"/>
            <a:ext cx="10829109" cy="3059888"/>
          </a:xfrm>
          <a:prstGeom prst="rect">
            <a:avLst/>
          </a:prstGeom>
          <a:noFill/>
          <a:ln>
            <a:noFill/>
          </a:ln>
        </p:spPr>
        <p:txBody>
          <a:bodyPr anchorCtr="0" anchor="t" bIns="45700" lIns="91425" spcFirstLastPara="1" rIns="91425" wrap="square" tIns="45700">
            <a:normAutofit lnSpcReduction="10000"/>
          </a:bodyPr>
          <a:lstStyle/>
          <a:p>
            <a:pPr indent="0" lvl="0" marL="0" marR="0" rtl="0" algn="ctr">
              <a:lnSpc>
                <a:spcPct val="90000"/>
              </a:lnSpc>
              <a:spcBef>
                <a:spcPts val="0"/>
              </a:spcBef>
              <a:spcAft>
                <a:spcPts val="0"/>
              </a:spcAft>
              <a:buClr>
                <a:srgbClr val="4C4C4C"/>
              </a:buClr>
              <a:buSzPts val="4400"/>
              <a:buFont typeface="Arial"/>
              <a:buNone/>
            </a:pPr>
            <a:r>
              <a:rPr b="0" i="0" lang="en-US" sz="4400" u="none" cap="none" strike="noStrike">
                <a:solidFill>
                  <a:srgbClr val="4C4C4C"/>
                </a:solidFill>
                <a:latin typeface="Arial"/>
                <a:ea typeface="Arial"/>
                <a:cs typeface="Arial"/>
                <a:sym typeface="Arial"/>
              </a:rPr>
              <a:t>Presented by:-</a:t>
            </a:r>
            <a:endParaRPr/>
          </a:p>
          <a:p>
            <a:pPr indent="0" lvl="0" marL="0" marR="0" rtl="0" algn="ctr">
              <a:lnSpc>
                <a:spcPct val="90000"/>
              </a:lnSpc>
              <a:spcBef>
                <a:spcPts val="1000"/>
              </a:spcBef>
              <a:spcAft>
                <a:spcPts val="0"/>
              </a:spcAft>
              <a:buClr>
                <a:srgbClr val="4C4C4C"/>
              </a:buClr>
              <a:buSzPts val="2600"/>
              <a:buFont typeface="Arial"/>
              <a:buNone/>
            </a:pPr>
            <a:r>
              <a:rPr b="0" i="0" lang="en-US" sz="2600" u="none" cap="none" strike="noStrike">
                <a:solidFill>
                  <a:srgbClr val="4C4C4C"/>
                </a:solidFill>
                <a:latin typeface="Arial"/>
                <a:ea typeface="Arial"/>
                <a:cs typeface="Arial"/>
                <a:sym typeface="Arial"/>
              </a:rPr>
              <a:t>Suyash Pandey(2342110052)</a:t>
            </a:r>
            <a:endParaRPr/>
          </a:p>
          <a:p>
            <a:pPr indent="0" lvl="0" marL="0" marR="0" rtl="0" algn="ctr">
              <a:lnSpc>
                <a:spcPct val="90000"/>
              </a:lnSpc>
              <a:spcBef>
                <a:spcPts val="1000"/>
              </a:spcBef>
              <a:spcAft>
                <a:spcPts val="0"/>
              </a:spcAft>
              <a:buClr>
                <a:srgbClr val="4C4C4C"/>
              </a:buClr>
              <a:buSzPts val="2600"/>
              <a:buFont typeface="Arial"/>
              <a:buNone/>
            </a:pPr>
            <a:r>
              <a:rPr b="0" i="0" lang="en-US" sz="2600" u="none" cap="none" strike="noStrike">
                <a:solidFill>
                  <a:srgbClr val="4C4C4C"/>
                </a:solidFill>
                <a:latin typeface="Arial"/>
                <a:ea typeface="Arial"/>
                <a:cs typeface="Arial"/>
                <a:sym typeface="Arial"/>
              </a:rPr>
              <a:t>Tamnna (2342110053)</a:t>
            </a:r>
            <a:endParaRPr/>
          </a:p>
          <a:p>
            <a:pPr indent="0" lvl="0" marL="0" marR="0" rtl="0" algn="ctr">
              <a:lnSpc>
                <a:spcPct val="90000"/>
              </a:lnSpc>
              <a:spcBef>
                <a:spcPts val="1000"/>
              </a:spcBef>
              <a:spcAft>
                <a:spcPts val="0"/>
              </a:spcAft>
              <a:buClr>
                <a:srgbClr val="4C4C4C"/>
              </a:buClr>
              <a:buSzPts val="2600"/>
              <a:buFont typeface="Arial"/>
              <a:buNone/>
            </a:pPr>
            <a:r>
              <a:rPr b="0" i="0" lang="en-US" sz="2600" u="none" cap="none" strike="noStrike">
                <a:solidFill>
                  <a:srgbClr val="4C4C4C"/>
                </a:solidFill>
                <a:latin typeface="Arial"/>
                <a:ea typeface="Arial"/>
                <a:cs typeface="Arial"/>
                <a:sym typeface="Arial"/>
              </a:rPr>
              <a:t>Tej Pratap (2342110054)</a:t>
            </a:r>
            <a:endParaRPr/>
          </a:p>
          <a:p>
            <a:pPr indent="0" lvl="0" marL="0" marR="0" rtl="0" algn="ctr">
              <a:lnSpc>
                <a:spcPct val="90000"/>
              </a:lnSpc>
              <a:spcBef>
                <a:spcPts val="1000"/>
              </a:spcBef>
              <a:spcAft>
                <a:spcPts val="0"/>
              </a:spcAft>
              <a:buClr>
                <a:srgbClr val="4C4C4C"/>
              </a:buClr>
              <a:buSzPts val="2600"/>
              <a:buFont typeface="Arial"/>
              <a:buNone/>
            </a:pPr>
            <a:r>
              <a:rPr b="0" i="0" lang="en-US" sz="2600" u="none" cap="none" strike="noStrike">
                <a:solidFill>
                  <a:srgbClr val="4C4C4C"/>
                </a:solidFill>
                <a:latin typeface="Arial"/>
                <a:ea typeface="Arial"/>
                <a:cs typeface="Arial"/>
                <a:sym typeface="Arial"/>
              </a:rPr>
              <a:t>Under Guidance of </a:t>
            </a:r>
            <a:endParaRPr/>
          </a:p>
          <a:p>
            <a:pPr indent="0" lvl="0" marL="0" marR="0" rtl="0" algn="ctr">
              <a:lnSpc>
                <a:spcPct val="90000"/>
              </a:lnSpc>
              <a:spcBef>
                <a:spcPts val="1000"/>
              </a:spcBef>
              <a:spcAft>
                <a:spcPts val="0"/>
              </a:spcAft>
              <a:buClr>
                <a:srgbClr val="4C4C4C"/>
              </a:buClr>
              <a:buSzPts val="3200"/>
              <a:buFont typeface="Arial"/>
              <a:buNone/>
            </a:pPr>
            <a:r>
              <a:rPr b="1" i="0" lang="en-US" sz="3200" u="none" cap="none" strike="noStrike">
                <a:solidFill>
                  <a:srgbClr val="4C4C4C"/>
                </a:solidFill>
                <a:latin typeface="Arial"/>
                <a:ea typeface="Arial"/>
                <a:cs typeface="Arial"/>
                <a:sym typeface="Arial"/>
              </a:rPr>
              <a:t>Mr. Jayati Krishna Goswami</a:t>
            </a:r>
            <a:endParaRPr b="1" i="0" sz="3200" u="none" cap="none" strike="noStrike">
              <a:solidFill>
                <a:srgbClr val="4C4C4C"/>
              </a:solidFill>
              <a:latin typeface="Arial"/>
              <a:ea typeface="Arial"/>
              <a:cs typeface="Arial"/>
              <a:sym typeface="Arial"/>
            </a:endParaRPr>
          </a:p>
          <a:p>
            <a:pPr indent="0" lvl="0" marL="0" marR="0" rtl="0" algn="ctr">
              <a:lnSpc>
                <a:spcPct val="90000"/>
              </a:lnSpc>
              <a:spcBef>
                <a:spcPts val="1000"/>
              </a:spcBef>
              <a:spcAft>
                <a:spcPts val="0"/>
              </a:spcAft>
              <a:buClr>
                <a:schemeClr val="dk1"/>
              </a:buClr>
              <a:buSzPts val="2400"/>
              <a:buFont typeface="Arial"/>
              <a:buNone/>
            </a:pPr>
            <a:r>
              <a:t/>
            </a:r>
            <a:endParaRPr b="1" i="0" sz="2400" u="none" cap="none" strike="noStrike">
              <a:solidFill>
                <a:srgbClr val="4C4C4C"/>
              </a:solidFill>
              <a:latin typeface="Arial"/>
              <a:ea typeface="Arial"/>
              <a:cs typeface="Arial"/>
              <a:sym typeface="Arial"/>
            </a:endParaRPr>
          </a:p>
          <a:p>
            <a:pPr indent="0" lvl="0" marL="0" marR="0" rtl="0" algn="ctr">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Contents</a:t>
            </a:r>
            <a:r>
              <a:rPr lang="en-US"/>
              <a:t> </a:t>
            </a:r>
            <a:endParaRPr/>
          </a:p>
        </p:txBody>
      </p:sp>
      <p:sp>
        <p:nvSpPr>
          <p:cNvPr id="92" name="Google Shape;92;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Introduction</a:t>
            </a:r>
            <a:endParaRPr/>
          </a:p>
          <a:p>
            <a:pPr indent="-228600" lvl="0" marL="228600" rtl="0" algn="l">
              <a:lnSpc>
                <a:spcPct val="90000"/>
              </a:lnSpc>
              <a:spcBef>
                <a:spcPts val="1000"/>
              </a:spcBef>
              <a:spcAft>
                <a:spcPts val="0"/>
              </a:spcAft>
              <a:buClr>
                <a:schemeClr val="dk1"/>
              </a:buClr>
              <a:buSzPts val="2800"/>
              <a:buChar char="•"/>
            </a:pPr>
            <a:r>
              <a:rPr lang="en-US"/>
              <a:t>Literature Review</a:t>
            </a:r>
            <a:endParaRPr/>
          </a:p>
          <a:p>
            <a:pPr indent="-228600" lvl="0" marL="228600" rtl="0" algn="l">
              <a:lnSpc>
                <a:spcPct val="90000"/>
              </a:lnSpc>
              <a:spcBef>
                <a:spcPts val="1000"/>
              </a:spcBef>
              <a:spcAft>
                <a:spcPts val="0"/>
              </a:spcAft>
              <a:buClr>
                <a:schemeClr val="dk1"/>
              </a:buClr>
              <a:buSzPts val="2800"/>
              <a:buChar char="•"/>
            </a:pPr>
            <a:r>
              <a:rPr lang="en-US"/>
              <a:t>Proposed method</a:t>
            </a:r>
            <a:endParaRPr/>
          </a:p>
          <a:p>
            <a:pPr indent="-228600" lvl="0" marL="228600" rtl="0" algn="l">
              <a:lnSpc>
                <a:spcPct val="90000"/>
              </a:lnSpc>
              <a:spcBef>
                <a:spcPts val="1000"/>
              </a:spcBef>
              <a:spcAft>
                <a:spcPts val="0"/>
              </a:spcAft>
              <a:buClr>
                <a:schemeClr val="dk1"/>
              </a:buClr>
              <a:buSzPts val="2800"/>
              <a:buChar char="•"/>
            </a:pPr>
            <a:r>
              <a:rPr lang="en-US"/>
              <a:t>Results and Discussion</a:t>
            </a:r>
            <a:endParaRPr/>
          </a:p>
          <a:p>
            <a:pPr indent="-228600" lvl="0" marL="228600" rtl="0" algn="l">
              <a:lnSpc>
                <a:spcPct val="90000"/>
              </a:lnSpc>
              <a:spcBef>
                <a:spcPts val="1000"/>
              </a:spcBef>
              <a:spcAft>
                <a:spcPts val="0"/>
              </a:spcAft>
              <a:buClr>
                <a:schemeClr val="dk1"/>
              </a:buClr>
              <a:buSzPts val="2800"/>
              <a:buChar char="•"/>
            </a:pPr>
            <a:r>
              <a:rPr lang="en-US"/>
              <a:t>Conclusion</a:t>
            </a:r>
            <a:endParaRPr/>
          </a:p>
          <a:p>
            <a:pPr indent="-228600" lvl="0" marL="228600" rtl="0" algn="l">
              <a:lnSpc>
                <a:spcPct val="90000"/>
              </a:lnSpc>
              <a:spcBef>
                <a:spcPts val="1000"/>
              </a:spcBef>
              <a:spcAft>
                <a:spcPts val="0"/>
              </a:spcAft>
              <a:buClr>
                <a:schemeClr val="dk1"/>
              </a:buClr>
              <a:buSzPts val="2800"/>
              <a:buChar char="•"/>
            </a:pPr>
            <a:r>
              <a:rPr lang="en-US"/>
              <a:t>References</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Introduction</a:t>
            </a:r>
            <a:r>
              <a:rPr lang="en-US"/>
              <a:t> </a:t>
            </a:r>
            <a:endParaRPr/>
          </a:p>
        </p:txBody>
      </p:sp>
      <p:sp>
        <p:nvSpPr>
          <p:cNvPr id="98" name="Google Shape;98;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just">
              <a:lnSpc>
                <a:spcPct val="90000"/>
              </a:lnSpc>
              <a:spcBef>
                <a:spcPts val="0"/>
              </a:spcBef>
              <a:spcAft>
                <a:spcPts val="0"/>
              </a:spcAft>
              <a:buClr>
                <a:srgbClr val="000000"/>
              </a:buClr>
              <a:buSzPct val="100000"/>
              <a:buChar char="•"/>
            </a:pPr>
            <a:r>
              <a:rPr lang="en-US">
                <a:solidFill>
                  <a:srgbClr val="000000"/>
                </a:solidFill>
                <a:latin typeface="Calibri"/>
                <a:ea typeface="Calibri"/>
                <a:cs typeface="Calibri"/>
                <a:sym typeface="Calibri"/>
              </a:rPr>
              <a:t>Recognizing and monitoring human activities are fundamental functions to provide healthcare and assistance services to elderly people living alone, physically or mentally disabled people, and children. [1]</a:t>
            </a:r>
            <a:endParaRPr/>
          </a:p>
          <a:p>
            <a:pPr indent="0" lvl="0" marL="0" rtl="0" algn="just">
              <a:lnSpc>
                <a:spcPct val="90000"/>
              </a:lnSpc>
              <a:spcBef>
                <a:spcPts val="1000"/>
              </a:spcBef>
              <a:spcAft>
                <a:spcPts val="0"/>
              </a:spcAft>
              <a:buClr>
                <a:schemeClr val="dk1"/>
              </a:buClr>
              <a:buSzPct val="100000"/>
              <a:buNone/>
            </a:pPr>
            <a:r>
              <a:t/>
            </a:r>
            <a:endParaRPr>
              <a:solidFill>
                <a:srgbClr val="000000"/>
              </a:solidFill>
              <a:latin typeface="Calibri"/>
              <a:ea typeface="Calibri"/>
              <a:cs typeface="Calibri"/>
              <a:sym typeface="Calibri"/>
            </a:endParaRPr>
          </a:p>
          <a:p>
            <a:pPr indent="-228600" lvl="0" marL="228600" rtl="0" algn="just">
              <a:lnSpc>
                <a:spcPct val="90000"/>
              </a:lnSpc>
              <a:spcBef>
                <a:spcPts val="1000"/>
              </a:spcBef>
              <a:spcAft>
                <a:spcPts val="0"/>
              </a:spcAft>
              <a:buClr>
                <a:schemeClr val="dk1"/>
              </a:buClr>
              <a:buSzPct val="100000"/>
              <a:buChar char="•"/>
            </a:pPr>
            <a:r>
              <a:rPr lang="en-US"/>
              <a:t>With the growth of IoT and wearable devices, deep learning models—particularly ones that combine convolutional feature extraction with attention mechanisms—are now being used to learn discriminative patterns from sensor data for human activity recognition (HAR). [2]</a:t>
            </a:r>
            <a:endParaRPr/>
          </a:p>
          <a:p>
            <a:pPr indent="0" lvl="0" marL="0" rtl="0" algn="just">
              <a:lnSpc>
                <a:spcPct val="90000"/>
              </a:lnSpc>
              <a:spcBef>
                <a:spcPts val="1000"/>
              </a:spcBef>
              <a:spcAft>
                <a:spcPts val="0"/>
              </a:spcAft>
              <a:buClr>
                <a:schemeClr val="dk1"/>
              </a:buClr>
              <a:buSzPct val="100000"/>
              <a:buNone/>
            </a:pPr>
            <a:r>
              <a:t/>
            </a:r>
            <a:endParaRPr/>
          </a:p>
          <a:p>
            <a:pPr indent="-228600" lvl="0" marL="228600" rtl="0" algn="just">
              <a:lnSpc>
                <a:spcPct val="90000"/>
              </a:lnSpc>
              <a:spcBef>
                <a:spcPts val="1000"/>
              </a:spcBef>
              <a:spcAft>
                <a:spcPts val="0"/>
              </a:spcAft>
              <a:buClr>
                <a:schemeClr val="dk1"/>
              </a:buClr>
              <a:buSzPct val="100000"/>
              <a:buChar char="•"/>
            </a:pPr>
            <a:r>
              <a:rPr lang="en-US"/>
              <a:t>Human</a:t>
            </a:r>
            <a:r>
              <a:rPr lang="en-US">
                <a:solidFill>
                  <a:srgbClr val="000000"/>
                </a:solidFill>
              </a:rPr>
              <a:t> Activity Recognition (HAR) remains an active and evolving research field, with attention-based architectures offering improved interpretability and robustness for real-world wearable sensor data. [3]</a:t>
            </a:r>
            <a:endParaRPr/>
          </a:p>
          <a:p>
            <a:pPr indent="0" lvl="0" marL="0" rtl="0" algn="just">
              <a:lnSpc>
                <a:spcPct val="90000"/>
              </a:lnSpc>
              <a:spcBef>
                <a:spcPts val="1000"/>
              </a:spcBef>
              <a:spcAft>
                <a:spcPts val="0"/>
              </a:spcAft>
              <a:buClr>
                <a:schemeClr val="dk1"/>
              </a:buClr>
              <a:buSzPct val="100000"/>
              <a:buNone/>
            </a:pPr>
            <a:r>
              <a:t/>
            </a:r>
            <a:endParaRPr>
              <a:solidFill>
                <a:srgbClr val="000000"/>
              </a:solidFill>
            </a:endParaRPr>
          </a:p>
          <a:p>
            <a:pPr indent="0" lvl="0" marL="0" rtl="0" algn="just">
              <a:lnSpc>
                <a:spcPct val="90000"/>
              </a:lnSpc>
              <a:spcBef>
                <a:spcPts val="1000"/>
              </a:spcBef>
              <a:spcAft>
                <a:spcPts val="0"/>
              </a:spcAft>
              <a:buClr>
                <a:schemeClr val="dk1"/>
              </a:buClr>
              <a:buSzPct val="100000"/>
              <a:buNone/>
            </a:pPr>
            <a:r>
              <a:t/>
            </a:r>
            <a:endParaRPr>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type="title"/>
          </p:nvPr>
        </p:nvSpPr>
        <p:spPr>
          <a:xfrm>
            <a:off x="1408627" y="94670"/>
            <a:ext cx="9374746" cy="87124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Literature Review</a:t>
            </a:r>
            <a:r>
              <a:rPr lang="en-US"/>
              <a:t> </a:t>
            </a:r>
            <a:endParaRPr/>
          </a:p>
        </p:txBody>
      </p:sp>
      <p:sp>
        <p:nvSpPr>
          <p:cNvPr id="104" name="Google Shape;104;p4"/>
          <p:cNvSpPr txBox="1"/>
          <p:nvPr>
            <p:ph idx="1" type="body"/>
          </p:nvPr>
        </p:nvSpPr>
        <p:spPr>
          <a:xfrm>
            <a:off x="838200" y="965916"/>
            <a:ext cx="10515600" cy="5628067"/>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Char char="•"/>
            </a:pPr>
            <a:r>
              <a:rPr lang="en-US" sz="2400"/>
              <a:t>Prior research includes </a:t>
            </a:r>
            <a:r>
              <a:rPr b="1" lang="en-US" sz="2400"/>
              <a:t>k-NN</a:t>
            </a:r>
            <a:r>
              <a:rPr lang="en-US" sz="2400"/>
              <a:t>, </a:t>
            </a:r>
            <a:r>
              <a:rPr b="1" lang="en-US" sz="2400"/>
              <a:t>SVM</a:t>
            </a:r>
            <a:r>
              <a:rPr lang="en-US" sz="2400"/>
              <a:t>, and </a:t>
            </a:r>
            <a:r>
              <a:rPr b="1" lang="en-US" sz="2400"/>
              <a:t>HMM.</a:t>
            </a:r>
            <a:r>
              <a:rPr lang="en-US" sz="2400"/>
              <a:t> Studies show k-Nearest Neighbor (k-NN) and SVM offer simplicity but limited feature extraction capabilities, while Hidden Markov Model (HMM) captures temporal dependencies but requires strong assumptions.[4]</a:t>
            </a:r>
            <a:endParaRPr sz="2400"/>
          </a:p>
          <a:p>
            <a:pPr indent="0" lvl="0" marL="0" rtl="0" algn="just">
              <a:lnSpc>
                <a:spcPct val="90000"/>
              </a:lnSpc>
              <a:spcBef>
                <a:spcPts val="1000"/>
              </a:spcBef>
              <a:spcAft>
                <a:spcPts val="0"/>
              </a:spcAft>
              <a:buClr>
                <a:schemeClr val="dk1"/>
              </a:buClr>
              <a:buSzPts val="2400"/>
              <a:buNone/>
            </a:pPr>
            <a:r>
              <a:t/>
            </a:r>
            <a:endParaRPr sz="2400"/>
          </a:p>
          <a:p>
            <a:pPr indent="-228600" lvl="0" marL="228600" rtl="0" algn="just">
              <a:lnSpc>
                <a:spcPct val="70000"/>
              </a:lnSpc>
              <a:spcBef>
                <a:spcPts val="1000"/>
              </a:spcBef>
              <a:spcAft>
                <a:spcPts val="0"/>
              </a:spcAft>
              <a:buClr>
                <a:schemeClr val="dk1"/>
              </a:buClr>
              <a:buSzPts val="2400"/>
              <a:buChar char="•"/>
            </a:pPr>
            <a:r>
              <a:rPr lang="en-US" sz="2400"/>
              <a:t>Deep learning models such as Convolutional Neural Networks (CNNs) and Attention-based architectures significantly improve classification accuracy and automate feature extraction and handle complex patterns. [5]</a:t>
            </a:r>
            <a:endParaRPr/>
          </a:p>
          <a:p>
            <a:pPr indent="0" lvl="0" marL="0" rtl="0" algn="just">
              <a:lnSpc>
                <a:spcPct val="70000"/>
              </a:lnSpc>
              <a:spcBef>
                <a:spcPts val="1000"/>
              </a:spcBef>
              <a:spcAft>
                <a:spcPts val="0"/>
              </a:spcAft>
              <a:buClr>
                <a:schemeClr val="dk1"/>
              </a:buClr>
              <a:buSzPts val="2400"/>
              <a:buNone/>
            </a:pPr>
            <a:r>
              <a:t/>
            </a:r>
            <a:endParaRPr sz="2400"/>
          </a:p>
          <a:p>
            <a:pPr indent="-228600" lvl="0" marL="228600" rtl="0" algn="just">
              <a:lnSpc>
                <a:spcPct val="70000"/>
              </a:lnSpc>
              <a:spcBef>
                <a:spcPts val="1000"/>
              </a:spcBef>
              <a:spcAft>
                <a:spcPts val="0"/>
              </a:spcAft>
              <a:buClr>
                <a:schemeClr val="dk1"/>
              </a:buClr>
              <a:buSzPts val="2400"/>
              <a:buChar char="•"/>
            </a:pPr>
            <a:r>
              <a:rPr lang="en-US" sz="2400"/>
              <a:t>Existing deep learning approaches show promise but require further optimization. [6]</a:t>
            </a:r>
            <a:endParaRPr/>
          </a:p>
          <a:p>
            <a:pPr indent="0" lvl="0" marL="0" rtl="0" algn="just">
              <a:lnSpc>
                <a:spcPct val="70000"/>
              </a:lnSpc>
              <a:spcBef>
                <a:spcPts val="1000"/>
              </a:spcBef>
              <a:spcAft>
                <a:spcPts val="0"/>
              </a:spcAft>
              <a:buClr>
                <a:schemeClr val="dk1"/>
              </a:buClr>
              <a:buSzPts val="2400"/>
              <a:buNone/>
            </a:pPr>
            <a:r>
              <a:t/>
            </a:r>
            <a:endParaRPr sz="2400"/>
          </a:p>
          <a:p>
            <a:pPr indent="-228600" lvl="0" marL="228600" rtl="0" algn="just">
              <a:lnSpc>
                <a:spcPct val="70000"/>
              </a:lnSpc>
              <a:spcBef>
                <a:spcPts val="1000"/>
              </a:spcBef>
              <a:spcAft>
                <a:spcPts val="0"/>
              </a:spcAft>
              <a:buClr>
                <a:schemeClr val="dk1"/>
              </a:buClr>
              <a:buSzPts val="2400"/>
              <a:buChar char="•"/>
            </a:pPr>
            <a:r>
              <a:rPr lang="en-US" sz="2400"/>
              <a:t>Key challenges include ensuring user privacy, handling variability in sensor signals, and maintaining transparency. Explainable AI and attention visualization methods are increasingly used to enhance model understanding and trust [7]</a:t>
            </a:r>
            <a:endParaRPr/>
          </a:p>
          <a:p>
            <a:pPr indent="0" lvl="0" marL="0" rtl="0" algn="just">
              <a:lnSpc>
                <a:spcPct val="90000"/>
              </a:lnSpc>
              <a:spcBef>
                <a:spcPts val="1000"/>
              </a:spcBef>
              <a:spcAft>
                <a:spcPts val="0"/>
              </a:spcAft>
              <a:buClr>
                <a:schemeClr val="dk1"/>
              </a:buClr>
              <a:buSzPts val="2400"/>
              <a:buNone/>
            </a:pPr>
            <a:r>
              <a:t/>
            </a:r>
            <a:endParaRPr sz="2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5"/>
          <p:cNvSpPr txBox="1"/>
          <p:nvPr>
            <p:ph type="title"/>
          </p:nvPr>
        </p:nvSpPr>
        <p:spPr>
          <a:xfrm>
            <a:off x="619260" y="197699"/>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Proposed Method</a:t>
            </a:r>
            <a:endParaRPr/>
          </a:p>
        </p:txBody>
      </p:sp>
      <p:sp>
        <p:nvSpPr>
          <p:cNvPr id="110" name="Google Shape;110;p5"/>
          <p:cNvSpPr txBox="1"/>
          <p:nvPr>
            <p:ph idx="1" type="body"/>
          </p:nvPr>
        </p:nvSpPr>
        <p:spPr>
          <a:xfrm>
            <a:off x="619260" y="1671079"/>
            <a:ext cx="10515600" cy="4351338"/>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400"/>
              <a:buChar char="•"/>
            </a:pPr>
            <a:r>
              <a:rPr lang="en-US" sz="2400"/>
              <a:t>The proposed method employs a hybrid CNN–LSTM deep learning model for accurate human activity recognition using wearable sensor data. </a:t>
            </a:r>
            <a:endParaRPr sz="2400"/>
          </a:p>
          <a:p>
            <a:pPr indent="0" lvl="0" marL="0" rtl="0" algn="just">
              <a:lnSpc>
                <a:spcPct val="100000"/>
              </a:lnSpc>
              <a:spcBef>
                <a:spcPts val="1000"/>
              </a:spcBef>
              <a:spcAft>
                <a:spcPts val="0"/>
              </a:spcAft>
              <a:buClr>
                <a:schemeClr val="dk1"/>
              </a:buClr>
              <a:buSzPts val="2400"/>
              <a:buNone/>
            </a:pPr>
            <a:r>
              <a:t/>
            </a:r>
            <a:endParaRPr sz="2400"/>
          </a:p>
          <a:p>
            <a:pPr indent="-228600" lvl="0" marL="228600" rtl="0" algn="just">
              <a:lnSpc>
                <a:spcPct val="90000"/>
              </a:lnSpc>
              <a:spcBef>
                <a:spcPts val="1000"/>
              </a:spcBef>
              <a:spcAft>
                <a:spcPts val="0"/>
              </a:spcAft>
              <a:buClr>
                <a:schemeClr val="dk1"/>
              </a:buClr>
              <a:buSzPts val="2400"/>
              <a:buChar char="•"/>
            </a:pPr>
            <a:r>
              <a:rPr lang="en-US" sz="2400"/>
              <a:t>Raw data from accelerometers and gyroscopes are preprocessed by handling missing values, encoding categorical activity labels, and retaining only numeric sensor features.</a:t>
            </a:r>
            <a:endParaRPr/>
          </a:p>
          <a:p>
            <a:pPr indent="0" lvl="0" marL="0" rtl="0" algn="just">
              <a:lnSpc>
                <a:spcPct val="90000"/>
              </a:lnSpc>
              <a:spcBef>
                <a:spcPts val="1000"/>
              </a:spcBef>
              <a:spcAft>
                <a:spcPts val="0"/>
              </a:spcAft>
              <a:buClr>
                <a:schemeClr val="dk1"/>
              </a:buClr>
              <a:buSzPts val="2400"/>
              <a:buNone/>
            </a:pPr>
            <a:r>
              <a:t/>
            </a:r>
            <a:endParaRPr sz="2400"/>
          </a:p>
          <a:p>
            <a:pPr indent="-228600" lvl="0" marL="228600" rtl="0" algn="just">
              <a:lnSpc>
                <a:spcPct val="90000"/>
              </a:lnSpc>
              <a:spcBef>
                <a:spcPts val="1000"/>
              </a:spcBef>
              <a:spcAft>
                <a:spcPts val="0"/>
              </a:spcAft>
              <a:buClr>
                <a:schemeClr val="dk1"/>
              </a:buClr>
              <a:buSzPts val="2400"/>
              <a:buChar char="•"/>
            </a:pPr>
            <a:r>
              <a:rPr lang="en-US" sz="2400"/>
              <a:t>The dataset is divided into training, validation, and test sets to ensure balanced evaluation. Feature scaling is performed using StandardScaler to normalize sensor signals for stable model training.</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6"/>
          <p:cNvSpPr txBox="1"/>
          <p:nvPr>
            <p:ph type="title"/>
          </p:nvPr>
        </p:nvSpPr>
        <p:spPr>
          <a:xfrm>
            <a:off x="838199" y="305510"/>
            <a:ext cx="10386811" cy="92299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Proposed Method Conti..</a:t>
            </a:r>
            <a:endParaRPr/>
          </a:p>
        </p:txBody>
      </p:sp>
      <p:sp>
        <p:nvSpPr>
          <p:cNvPr id="116" name="Google Shape;116;p6"/>
          <p:cNvSpPr txBox="1"/>
          <p:nvPr>
            <p:ph idx="1" type="body"/>
          </p:nvPr>
        </p:nvSpPr>
        <p:spPr>
          <a:xfrm>
            <a:off x="838200" y="1608142"/>
            <a:ext cx="10515600" cy="4955187"/>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400"/>
              <a:buChar char="•"/>
            </a:pPr>
            <a:r>
              <a:rPr lang="en-US" sz="2400"/>
              <a:t>Sensor data is segmented into fixed-length time windows and reshaped into 3D tensors (samples, time steps, features) as input to the CNN. </a:t>
            </a:r>
            <a:endParaRPr sz="2400"/>
          </a:p>
          <a:p>
            <a:pPr indent="0" lvl="0" marL="0" rtl="0" algn="l">
              <a:lnSpc>
                <a:spcPct val="90000"/>
              </a:lnSpc>
              <a:spcBef>
                <a:spcPts val="1000"/>
              </a:spcBef>
              <a:spcAft>
                <a:spcPts val="0"/>
              </a:spcAft>
              <a:buClr>
                <a:schemeClr val="dk1"/>
              </a:buClr>
              <a:buSzPts val="2400"/>
              <a:buNone/>
            </a:pPr>
            <a:r>
              <a:t/>
            </a:r>
            <a:endParaRPr sz="2400"/>
          </a:p>
          <a:p>
            <a:pPr indent="-228600" lvl="0" marL="228600" rtl="0" algn="just">
              <a:lnSpc>
                <a:spcPct val="100000"/>
              </a:lnSpc>
              <a:spcBef>
                <a:spcPts val="1000"/>
              </a:spcBef>
              <a:spcAft>
                <a:spcPts val="0"/>
              </a:spcAft>
              <a:buClr>
                <a:schemeClr val="dk1"/>
              </a:buClr>
              <a:buSzPts val="2400"/>
              <a:buChar char="•"/>
            </a:pPr>
            <a:r>
              <a:rPr lang="en-US" sz="2400"/>
              <a:t>The 1D convolutional layers extract local spatial features, and the LSTM layers learn temporal dependencies across these windows.</a:t>
            </a:r>
            <a:endParaRPr/>
          </a:p>
          <a:p>
            <a:pPr indent="-76200" lvl="0" marL="228600" rtl="0" algn="l">
              <a:lnSpc>
                <a:spcPct val="90000"/>
              </a:lnSpc>
              <a:spcBef>
                <a:spcPts val="1000"/>
              </a:spcBef>
              <a:spcAft>
                <a:spcPts val="0"/>
              </a:spcAft>
              <a:buClr>
                <a:schemeClr val="dk1"/>
              </a:buClr>
              <a:buSzPts val="2400"/>
              <a:buNone/>
            </a:pPr>
            <a:r>
              <a:t/>
            </a:r>
            <a:endParaRPr sz="2400"/>
          </a:p>
          <a:p>
            <a:pPr indent="-228600" lvl="0" marL="228600" rtl="0" algn="just">
              <a:lnSpc>
                <a:spcPct val="100000"/>
              </a:lnSpc>
              <a:spcBef>
                <a:spcPts val="1000"/>
              </a:spcBef>
              <a:spcAft>
                <a:spcPts val="0"/>
              </a:spcAft>
              <a:buClr>
                <a:schemeClr val="dk1"/>
              </a:buClr>
              <a:buSzPts val="2400"/>
              <a:buChar char="•"/>
            </a:pPr>
            <a:r>
              <a:rPr lang="en-US" sz="2400"/>
              <a:t>The final fully connected layers classify activities using softmax activation. Model training is optimized with the Adam optimizer and early stopping based on validation accuracy to prevent overfitting.</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7"/>
          <p:cNvSpPr txBox="1"/>
          <p:nvPr>
            <p:ph type="title"/>
          </p:nvPr>
        </p:nvSpPr>
        <p:spPr>
          <a:xfrm>
            <a:off x="745104" y="365125"/>
            <a:ext cx="10608695"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Proposed Method Conti..</a:t>
            </a:r>
            <a:endParaRPr/>
          </a:p>
        </p:txBody>
      </p:sp>
      <p:sp>
        <p:nvSpPr>
          <p:cNvPr id="122" name="Google Shape;122;p7"/>
          <p:cNvSpPr txBox="1"/>
          <p:nvPr>
            <p:ph idx="1" type="body"/>
          </p:nvPr>
        </p:nvSpPr>
        <p:spPr>
          <a:xfrm>
            <a:off x="791652" y="1938539"/>
            <a:ext cx="10608695" cy="4351338"/>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400"/>
              <a:buChar char="•"/>
            </a:pPr>
            <a:r>
              <a:rPr lang="en-US" sz="2400"/>
              <a:t>The CNN–LSTM model effectively captures both spatial and temporal dependencies from wearable sensor data. </a:t>
            </a:r>
            <a:endParaRPr sz="2400"/>
          </a:p>
          <a:p>
            <a:pPr indent="0" lvl="0" marL="0" rtl="0" algn="just">
              <a:lnSpc>
                <a:spcPct val="100000"/>
              </a:lnSpc>
              <a:spcBef>
                <a:spcPts val="1000"/>
              </a:spcBef>
              <a:spcAft>
                <a:spcPts val="0"/>
              </a:spcAft>
              <a:buClr>
                <a:schemeClr val="dk1"/>
              </a:buClr>
              <a:buSzPts val="2400"/>
              <a:buNone/>
            </a:pPr>
            <a:r>
              <a:t/>
            </a:r>
            <a:endParaRPr sz="2400"/>
          </a:p>
          <a:p>
            <a:pPr indent="-228600" lvl="0" marL="228600" rtl="0" algn="just">
              <a:lnSpc>
                <a:spcPct val="100000"/>
              </a:lnSpc>
              <a:spcBef>
                <a:spcPts val="1000"/>
              </a:spcBef>
              <a:spcAft>
                <a:spcPts val="0"/>
              </a:spcAft>
              <a:buClr>
                <a:schemeClr val="dk1"/>
              </a:buClr>
              <a:buSzPts val="2400"/>
              <a:buChar char="•"/>
            </a:pPr>
            <a:r>
              <a:rPr lang="en-US" sz="2400"/>
              <a:t>This hybrid structure enables better discrimination between similar human activities compared to standalone CNN or LSTM models.</a:t>
            </a:r>
            <a:endParaRPr/>
          </a:p>
          <a:p>
            <a:pPr indent="-76200" lvl="0" marL="228600" rtl="0" algn="just">
              <a:lnSpc>
                <a:spcPct val="100000"/>
              </a:lnSpc>
              <a:spcBef>
                <a:spcPts val="1000"/>
              </a:spcBef>
              <a:spcAft>
                <a:spcPts val="0"/>
              </a:spcAft>
              <a:buClr>
                <a:schemeClr val="dk1"/>
              </a:buClr>
              <a:buSzPts val="2400"/>
              <a:buNone/>
            </a:pPr>
            <a:r>
              <a:t/>
            </a:r>
            <a:endParaRPr sz="2400"/>
          </a:p>
          <a:p>
            <a:pPr indent="-228600" lvl="0" marL="228600" rtl="0" algn="just">
              <a:lnSpc>
                <a:spcPct val="100000"/>
              </a:lnSpc>
              <a:spcBef>
                <a:spcPts val="1000"/>
              </a:spcBef>
              <a:spcAft>
                <a:spcPts val="0"/>
              </a:spcAft>
              <a:buClr>
                <a:schemeClr val="dk1"/>
              </a:buClr>
              <a:buSzPts val="2400"/>
              <a:buChar char="•"/>
            </a:pPr>
            <a:r>
              <a:rPr lang="en-US" sz="2400"/>
              <a:t>The integration of preprocessing techniques such as feature scaling and stratified train-test splitting ensures robustness and model generalization across diverse activity classes.</a:t>
            </a:r>
            <a:endParaRPr sz="2400"/>
          </a:p>
        </p:txBody>
      </p:sp>
      <p:sp>
        <p:nvSpPr>
          <p:cNvPr id="123" name="Google Shape;123;p7"/>
          <p:cNvSpPr/>
          <p:nvPr/>
        </p:nvSpPr>
        <p:spPr>
          <a:xfrm>
            <a:off x="0" y="246062"/>
            <a:ext cx="12192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 name="Google Shape;124;p7"/>
          <p:cNvSpPr/>
          <p:nvPr/>
        </p:nvSpPr>
        <p:spPr>
          <a:xfrm>
            <a:off x="-209005" y="0"/>
            <a:ext cx="12192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3a4346eb097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Proposed Method</a:t>
            </a:r>
            <a:endParaRPr/>
          </a:p>
        </p:txBody>
      </p:sp>
      <p:sp>
        <p:nvSpPr>
          <p:cNvPr id="130" name="Google Shape;130;g3a4346eb097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457200" lvl="0" marL="2286000" rtl="0" algn="l">
              <a:spcBef>
                <a:spcPts val="1000"/>
              </a:spcBef>
              <a:spcAft>
                <a:spcPts val="0"/>
              </a:spcAft>
              <a:buNone/>
            </a:pPr>
            <a:r>
              <a:rPr b="1" i="1" lang="en-US" u="sng"/>
              <a:t>Fig 1 : Proposed Model Flowchart</a:t>
            </a:r>
            <a:endParaRPr b="1" i="1" u="sng"/>
          </a:p>
          <a:p>
            <a:pPr indent="457200" lvl="0" marL="2286000" rtl="0" algn="l">
              <a:spcBef>
                <a:spcPts val="1000"/>
              </a:spcBef>
              <a:spcAft>
                <a:spcPts val="0"/>
              </a:spcAft>
              <a:buNone/>
            </a:pPr>
            <a:r>
              <a:t/>
            </a:r>
            <a:endParaRPr b="1" i="1" u="sng"/>
          </a:p>
        </p:txBody>
      </p:sp>
      <p:pic>
        <p:nvPicPr>
          <p:cNvPr id="131" name="Google Shape;131;g3a4346eb097_0_0" title="proposed method daigram.png"/>
          <p:cNvPicPr preferRelativeResize="0"/>
          <p:nvPr/>
        </p:nvPicPr>
        <p:blipFill>
          <a:blip r:embed="rId3">
            <a:alphaModFix/>
          </a:blip>
          <a:stretch>
            <a:fillRect/>
          </a:stretch>
        </p:blipFill>
        <p:spPr>
          <a:xfrm>
            <a:off x="838200" y="2719325"/>
            <a:ext cx="10570882" cy="3457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8"/>
          <p:cNvSpPr txBox="1"/>
          <p:nvPr>
            <p:ph type="title"/>
          </p:nvPr>
        </p:nvSpPr>
        <p:spPr>
          <a:xfrm>
            <a:off x="838200" y="184822"/>
            <a:ext cx="10515600" cy="101291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Results and Discussion</a:t>
            </a:r>
            <a:endParaRPr/>
          </a:p>
        </p:txBody>
      </p:sp>
      <p:sp>
        <p:nvSpPr>
          <p:cNvPr id="137" name="Google Shape;137;p8"/>
          <p:cNvSpPr txBox="1"/>
          <p:nvPr>
            <p:ph idx="1" type="body"/>
          </p:nvPr>
        </p:nvSpPr>
        <p:spPr>
          <a:xfrm>
            <a:off x="838200" y="1313644"/>
            <a:ext cx="10515600" cy="5203200"/>
          </a:xfrm>
          <a:prstGeom prst="rect">
            <a:avLst/>
          </a:prstGeom>
          <a:noFill/>
          <a:ln>
            <a:noFill/>
          </a:ln>
        </p:spPr>
        <p:txBody>
          <a:bodyPr anchorCtr="0" anchor="t" bIns="45700" lIns="91425" spcFirstLastPara="1" rIns="91425" wrap="square" tIns="45700">
            <a:normAutofit lnSpcReduction="20000"/>
          </a:bodyPr>
          <a:lstStyle/>
          <a:p>
            <a:pPr indent="-241934" lvl="0" marL="228600" rtl="0" algn="just">
              <a:lnSpc>
                <a:spcPct val="90000"/>
              </a:lnSpc>
              <a:spcBef>
                <a:spcPts val="0"/>
              </a:spcBef>
              <a:spcAft>
                <a:spcPts val="0"/>
              </a:spcAft>
              <a:buClr>
                <a:schemeClr val="dk1"/>
              </a:buClr>
              <a:buSzPts val="2800"/>
              <a:buChar char="•"/>
            </a:pPr>
            <a:r>
              <a:rPr lang="en-US"/>
              <a:t>The proposed CNN–LSTM model achieved an overall test accuracy of about 98%, confirming its strong capability for recognizing multiple human activities from wearable sensor data.</a:t>
            </a:r>
            <a:endParaRPr/>
          </a:p>
          <a:p>
            <a:pPr indent="-241934" lvl="0" marL="228600" rtl="0" algn="just">
              <a:lnSpc>
                <a:spcPct val="90000"/>
              </a:lnSpc>
              <a:spcBef>
                <a:spcPts val="2000"/>
              </a:spcBef>
              <a:spcAft>
                <a:spcPts val="0"/>
              </a:spcAft>
              <a:buClr>
                <a:schemeClr val="dk1"/>
              </a:buClr>
              <a:buSzPts val="2800"/>
              <a:buChar char="•"/>
            </a:pPr>
            <a:r>
              <a:rPr lang="en-US"/>
              <a:t>Evaluation metrics show high performance across all classes — precision (94–98%), recall (95–97%), and F1-score (95–99%), demonstrating balanced and reliable classification. You can see in fig 2</a:t>
            </a:r>
            <a:endParaRPr/>
          </a:p>
          <a:p>
            <a:pPr indent="-241934" lvl="0" marL="228600" rtl="0" algn="just">
              <a:lnSpc>
                <a:spcPct val="90000"/>
              </a:lnSpc>
              <a:spcBef>
                <a:spcPts val="2000"/>
              </a:spcBef>
              <a:spcAft>
                <a:spcPts val="0"/>
              </a:spcAft>
              <a:buClr>
                <a:schemeClr val="dk1"/>
              </a:buClr>
              <a:buSzPts val="2800"/>
              <a:buChar char="•"/>
            </a:pPr>
            <a:r>
              <a:rPr lang="en-US"/>
              <a:t>The combination of convolutional and LSTM layers in fig 1 enables the model to automatically extract spatial–temporal patterns from sensor sequences, improving recognition accuracy even for activities with subtle motion differences.</a:t>
            </a:r>
            <a:endParaRPr/>
          </a:p>
          <a:p>
            <a:pPr indent="-241934" lvl="0" marL="228600" rtl="0" algn="just">
              <a:lnSpc>
                <a:spcPct val="90000"/>
              </a:lnSpc>
              <a:spcBef>
                <a:spcPts val="2000"/>
              </a:spcBef>
              <a:spcAft>
                <a:spcPts val="0"/>
              </a:spcAft>
              <a:buClr>
                <a:schemeClr val="dk1"/>
              </a:buClr>
              <a:buSzPts val="2800"/>
              <a:buChar char="•"/>
            </a:pPr>
            <a:r>
              <a:rPr lang="en-US"/>
              <a:t>The confusion matrix indicates consistently high true-positive rates across most activity classes, showing robust performance and minimal confusion between similar movements.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3ae0fa41bf3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US"/>
              <a:t>Results and Discussion</a:t>
            </a:r>
            <a:endParaRPr/>
          </a:p>
        </p:txBody>
      </p:sp>
      <p:sp>
        <p:nvSpPr>
          <p:cNvPr id="143" name="Google Shape;143;g3ae0fa41bf3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457200" lvl="0" marL="2286000" rtl="0" algn="l">
              <a:spcBef>
                <a:spcPts val="1000"/>
              </a:spcBef>
              <a:spcAft>
                <a:spcPts val="0"/>
              </a:spcAft>
              <a:buClr>
                <a:schemeClr val="dk1"/>
              </a:buClr>
              <a:buSzPts val="1100"/>
              <a:buFont typeface="Arial"/>
              <a:buNone/>
            </a:pPr>
            <a:r>
              <a:rPr b="1" i="1" lang="en-US" u="sng"/>
              <a:t>Fig 2 : Evolution Matrix</a:t>
            </a:r>
            <a:endParaRPr/>
          </a:p>
        </p:txBody>
      </p:sp>
      <p:pic>
        <p:nvPicPr>
          <p:cNvPr id="144" name="Google Shape;144;g3ae0fa41bf3_0_0" title="WhatsApp Image 2025-11-25 at 12.37.39 PM.jpeg"/>
          <p:cNvPicPr preferRelativeResize="0"/>
          <p:nvPr/>
        </p:nvPicPr>
        <p:blipFill>
          <a:blip r:embed="rId3">
            <a:alphaModFix/>
          </a:blip>
          <a:stretch>
            <a:fillRect/>
          </a:stretch>
        </p:blipFill>
        <p:spPr>
          <a:xfrm>
            <a:off x="1325625" y="2434550"/>
            <a:ext cx="8970225" cy="41753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9"/>
          <p:cNvSpPr txBox="1"/>
          <p:nvPr>
            <p:ph type="title"/>
          </p:nvPr>
        </p:nvSpPr>
        <p:spPr>
          <a:xfrm>
            <a:off x="838200" y="210579"/>
            <a:ext cx="10515600" cy="89700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Results and Discussion</a:t>
            </a:r>
            <a:endParaRPr/>
          </a:p>
        </p:txBody>
      </p:sp>
      <p:sp>
        <p:nvSpPr>
          <p:cNvPr id="150" name="Google Shape;150;p9"/>
          <p:cNvSpPr txBox="1"/>
          <p:nvPr>
            <p:ph idx="1" type="body"/>
          </p:nvPr>
        </p:nvSpPr>
        <p:spPr>
          <a:xfrm>
            <a:off x="838200" y="1107583"/>
            <a:ext cx="10515600" cy="5537915"/>
          </a:xfrm>
          <a:prstGeom prst="rect">
            <a:avLst/>
          </a:prstGeom>
          <a:noFill/>
          <a:ln>
            <a:noFill/>
          </a:ln>
        </p:spPr>
        <p:txBody>
          <a:bodyPr anchorCtr="0" anchor="ctr"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800"/>
              <a:buChar char="•"/>
            </a:pPr>
            <a:r>
              <a:rPr lang="en-US"/>
              <a:t>The CNN–LSTM architecture generalizes well to unseen users due to subject-based data splitting, which ensures the model learns activity patterns independent of individual motion styles.</a:t>
            </a:r>
            <a:endParaRPr/>
          </a:p>
          <a:p>
            <a:pPr indent="-228600" lvl="0" marL="228600" rtl="0" algn="just">
              <a:lnSpc>
                <a:spcPct val="90000"/>
              </a:lnSpc>
              <a:spcBef>
                <a:spcPts val="2000"/>
              </a:spcBef>
              <a:spcAft>
                <a:spcPts val="0"/>
              </a:spcAft>
              <a:buClr>
                <a:schemeClr val="dk1"/>
              </a:buClr>
              <a:buSzPts val="2800"/>
              <a:buChar char="•"/>
            </a:pPr>
            <a:r>
              <a:rPr lang="en-US"/>
              <a:t>Compared with traditional machine-learning approaches (e.g., k-NN, Decision Tree, Random Forest), this deep learning model provides significantly higher accuracy and better handling of temporal dependencies.</a:t>
            </a:r>
            <a:endParaRPr/>
          </a:p>
          <a:p>
            <a:pPr indent="-228600" lvl="0" marL="228600" rtl="0" algn="just">
              <a:lnSpc>
                <a:spcPct val="90000"/>
              </a:lnSpc>
              <a:spcBef>
                <a:spcPts val="2000"/>
              </a:spcBef>
              <a:spcAft>
                <a:spcPts val="0"/>
              </a:spcAft>
              <a:buClr>
                <a:schemeClr val="dk1"/>
              </a:buClr>
              <a:buSzPts val="2800"/>
              <a:buChar char="•"/>
            </a:pPr>
            <a:r>
              <a:rPr lang="en-US"/>
              <a:t>Training with early stopping helped prevent overfitting, while feature scaling stabilized model convergence. Although our model is overfit but no too much as compared too other model.</a:t>
            </a:r>
            <a:endParaRPr/>
          </a:p>
          <a:p>
            <a:pPr indent="-228600" lvl="0" marL="228600" rtl="0" algn="just">
              <a:lnSpc>
                <a:spcPct val="90000"/>
              </a:lnSpc>
              <a:spcBef>
                <a:spcPts val="2000"/>
              </a:spcBef>
              <a:spcAft>
                <a:spcPts val="0"/>
              </a:spcAft>
              <a:buClr>
                <a:schemeClr val="dk1"/>
              </a:buClr>
              <a:buSzPts val="2800"/>
              <a:buChar char="•"/>
            </a:pPr>
            <a:r>
              <a:rPr lang="en-US"/>
              <a:t>The trained model maintains low latency during inference, making it practical for real-time fitness or healthcare monitoring using wearable devices.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ae0fa41bf3_0_1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US"/>
              <a:t>Results and Discussion</a:t>
            </a:r>
            <a:endParaRPr/>
          </a:p>
        </p:txBody>
      </p:sp>
      <p:sp>
        <p:nvSpPr>
          <p:cNvPr id="156" name="Google Shape;156;g3ae0fa41bf3_0_11"/>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457200" lvl="0" marL="2286000" rtl="0" algn="l">
              <a:spcBef>
                <a:spcPts val="1000"/>
              </a:spcBef>
              <a:spcAft>
                <a:spcPts val="0"/>
              </a:spcAft>
              <a:buClr>
                <a:schemeClr val="dk1"/>
              </a:buClr>
              <a:buSzPts val="1100"/>
              <a:buFont typeface="Arial"/>
              <a:buNone/>
            </a:pPr>
            <a:r>
              <a:rPr b="1" i="1" lang="en-US" u="sng"/>
              <a:t>Fig 3 : Evolution Matrix</a:t>
            </a:r>
            <a:endParaRPr/>
          </a:p>
          <a:p>
            <a:pPr indent="0" lvl="0" marL="0" rtl="0" algn="l">
              <a:spcBef>
                <a:spcPts val="1000"/>
              </a:spcBef>
              <a:spcAft>
                <a:spcPts val="0"/>
              </a:spcAft>
              <a:buNone/>
            </a:pPr>
            <a:r>
              <a:t/>
            </a:r>
            <a:endParaRPr/>
          </a:p>
        </p:txBody>
      </p:sp>
      <p:pic>
        <p:nvPicPr>
          <p:cNvPr id="157" name="Google Shape;157;g3ae0fa41bf3_0_11" title="WhatsApp Image 2025-11-25 at 12.46.54 PM.jpeg"/>
          <p:cNvPicPr preferRelativeResize="0"/>
          <p:nvPr/>
        </p:nvPicPr>
        <p:blipFill>
          <a:blip r:embed="rId3">
            <a:alphaModFix/>
          </a:blip>
          <a:stretch>
            <a:fillRect/>
          </a:stretch>
        </p:blipFill>
        <p:spPr>
          <a:xfrm>
            <a:off x="503300" y="1690825"/>
            <a:ext cx="11185400" cy="46178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Conclusion</a:t>
            </a:r>
            <a:endParaRPr/>
          </a:p>
        </p:txBody>
      </p:sp>
      <p:sp>
        <p:nvSpPr>
          <p:cNvPr id="163" name="Google Shape;163;p10"/>
          <p:cNvSpPr txBox="1"/>
          <p:nvPr>
            <p:ph idx="1" type="body"/>
          </p:nvPr>
        </p:nvSpPr>
        <p:spPr>
          <a:xfrm>
            <a:off x="838200" y="1519707"/>
            <a:ext cx="10515600" cy="5102954"/>
          </a:xfrm>
          <a:prstGeom prst="rect">
            <a:avLst/>
          </a:prstGeom>
          <a:noFill/>
          <a:ln>
            <a:noFill/>
          </a:ln>
        </p:spPr>
        <p:txBody>
          <a:bodyPr anchorCtr="0" anchor="t" bIns="45700" lIns="91425" spcFirstLastPara="1" rIns="91425" wrap="square" tIns="45700">
            <a:normAutofit/>
          </a:bodyPr>
          <a:lstStyle/>
          <a:p>
            <a:pPr indent="-228600" lvl="0" marL="228600" rtl="0" algn="just">
              <a:lnSpc>
                <a:spcPct val="100000"/>
              </a:lnSpc>
              <a:spcBef>
                <a:spcPts val="0"/>
              </a:spcBef>
              <a:spcAft>
                <a:spcPts val="0"/>
              </a:spcAft>
              <a:buClr>
                <a:schemeClr val="dk1"/>
              </a:buClr>
              <a:buSzPts val="2400"/>
              <a:buChar char="•"/>
            </a:pPr>
            <a:r>
              <a:rPr lang="en-US" sz="2400"/>
              <a:t>The hybrid CNN–LSTM model effectively recognizes human activities using wearable sensor data by capturing both spatial and temporal dynamics.</a:t>
            </a:r>
            <a:endParaRPr/>
          </a:p>
          <a:p>
            <a:pPr indent="-228600" lvl="0" marL="228600" rtl="0" algn="just">
              <a:lnSpc>
                <a:spcPct val="100000"/>
              </a:lnSpc>
              <a:spcBef>
                <a:spcPts val="2000"/>
              </a:spcBef>
              <a:spcAft>
                <a:spcPts val="0"/>
              </a:spcAft>
              <a:buClr>
                <a:schemeClr val="dk1"/>
              </a:buClr>
              <a:buSzPts val="2400"/>
              <a:buChar char="•"/>
            </a:pPr>
            <a:r>
              <a:rPr lang="en-US" sz="2400"/>
              <a:t>The model achieved high and balanced performance (≈98% accuracy, 95–99% F1-score) across activity classes, proving its reliability for real-world applications.</a:t>
            </a:r>
            <a:endParaRPr/>
          </a:p>
          <a:p>
            <a:pPr indent="-228600" lvl="0" marL="228600" rtl="0" algn="just">
              <a:lnSpc>
                <a:spcPct val="100000"/>
              </a:lnSpc>
              <a:spcBef>
                <a:spcPts val="2000"/>
              </a:spcBef>
              <a:spcAft>
                <a:spcPts val="0"/>
              </a:spcAft>
              <a:buClr>
                <a:schemeClr val="dk1"/>
              </a:buClr>
              <a:buSzPts val="2400"/>
              <a:buChar char="•"/>
            </a:pPr>
            <a:r>
              <a:rPr lang="en-US" sz="2400"/>
              <a:t>Preprocessing methods such as feature scaling and subject-based validation improved robustness and ensured consistent results across diverse subjects.</a:t>
            </a:r>
            <a:endParaRPr/>
          </a:p>
          <a:p>
            <a:pPr indent="-228600" lvl="0" marL="228600" rtl="0" algn="just">
              <a:lnSpc>
                <a:spcPct val="100000"/>
              </a:lnSpc>
              <a:spcBef>
                <a:spcPts val="2000"/>
              </a:spcBef>
              <a:spcAft>
                <a:spcPts val="0"/>
              </a:spcAft>
              <a:buClr>
                <a:schemeClr val="dk1"/>
              </a:buClr>
              <a:buSzPts val="2400"/>
              <a:buChar char="•"/>
            </a:pPr>
            <a:r>
              <a:rPr lang="en-US" sz="2400"/>
              <a:t>The model’s lightweight design allows deployment on edge or wearable devices for continuous, real-time monitoring.</a:t>
            </a:r>
            <a:endParaRPr/>
          </a:p>
          <a:p>
            <a:pPr indent="-228600" lvl="0" marL="228600" rtl="0" algn="just">
              <a:lnSpc>
                <a:spcPct val="100000"/>
              </a:lnSpc>
              <a:spcBef>
                <a:spcPts val="2000"/>
              </a:spcBef>
              <a:spcAft>
                <a:spcPts val="0"/>
              </a:spcAft>
              <a:buClr>
                <a:schemeClr val="dk1"/>
              </a:buClr>
              <a:buSzPts val="2400"/>
              <a:buChar char="•"/>
            </a:pPr>
            <a:r>
              <a:rPr lang="en-US" sz="2400"/>
              <a:t>Future work may focus on multi-sensor fusion, real-time edge optimization, and explainable AI visualization for better interpretability.</a:t>
            </a:r>
            <a:endParaRPr/>
          </a:p>
          <a:p>
            <a:pPr indent="-76200" lvl="0" marL="228600" rtl="0" algn="l">
              <a:lnSpc>
                <a:spcPct val="60000"/>
              </a:lnSpc>
              <a:spcBef>
                <a:spcPts val="1000"/>
              </a:spcBef>
              <a:spcAft>
                <a:spcPts val="0"/>
              </a:spcAft>
              <a:buClr>
                <a:schemeClr val="dk1"/>
              </a:buClr>
              <a:buSzPts val="2400"/>
              <a:buNone/>
            </a:pPr>
            <a:r>
              <a:t/>
            </a:r>
            <a:endParaRPr sz="2400"/>
          </a:p>
          <a:p>
            <a:pPr indent="-50800" lvl="0" marL="228600" rtl="0" algn="l">
              <a:lnSpc>
                <a:spcPct val="70000"/>
              </a:lnSpc>
              <a:spcBef>
                <a:spcPts val="1000"/>
              </a:spcBef>
              <a:spcAft>
                <a:spcPts val="0"/>
              </a:spcAft>
              <a:buClr>
                <a:schemeClr val="dk1"/>
              </a:buClr>
              <a:buSzPts val="28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References</a:t>
            </a:r>
            <a:endParaRPr/>
          </a:p>
        </p:txBody>
      </p:sp>
      <p:sp>
        <p:nvSpPr>
          <p:cNvPr id="169" name="Google Shape;169;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chemeClr val="dk1"/>
              </a:buClr>
              <a:buSzPts val="2400"/>
              <a:buNone/>
            </a:pPr>
            <a:r>
              <a:rPr lang="en-US" sz="2400"/>
              <a:t>[1] Attal, F., Mohammed, S., Dedabrishvili, M., Chamroukhi, F., Oukhellou, L., &amp; Amirat, Y. (2015). Physical Human Activity Recognition Using Wearable Sensors. Sensors, 15(12), 31314–31338</a:t>
            </a:r>
            <a:endParaRPr/>
          </a:p>
          <a:p>
            <a:pPr indent="0" lvl="0" marL="0" rtl="0" algn="just">
              <a:lnSpc>
                <a:spcPct val="90000"/>
              </a:lnSpc>
              <a:spcBef>
                <a:spcPts val="1000"/>
              </a:spcBef>
              <a:spcAft>
                <a:spcPts val="0"/>
              </a:spcAft>
              <a:buClr>
                <a:schemeClr val="dk1"/>
              </a:buClr>
              <a:buSzPts val="2400"/>
              <a:buNone/>
            </a:pPr>
            <a:r>
              <a:rPr lang="en-US" sz="2400"/>
              <a:t>[2] Akter M., Ansary S., Khan M.A.-M., Kim D. Human Activity Recognition Using Attention-Mechanism-Based Deep Learning Feature Combination. Sensors 2023</a:t>
            </a:r>
            <a:endParaRPr/>
          </a:p>
          <a:p>
            <a:pPr indent="0" lvl="0" marL="0" rtl="0" algn="just">
              <a:lnSpc>
                <a:spcPct val="90000"/>
              </a:lnSpc>
              <a:spcBef>
                <a:spcPts val="1000"/>
              </a:spcBef>
              <a:spcAft>
                <a:spcPts val="0"/>
              </a:spcAft>
              <a:buClr>
                <a:schemeClr val="dk1"/>
              </a:buClr>
              <a:buSzPts val="2400"/>
              <a:buNone/>
            </a:pPr>
            <a:r>
              <a:rPr lang="en-US" sz="2400"/>
              <a:t>[3] Wang Y., Cang S., Yu H., et al. Attention mechanism &amp; wearable sensor-based HAR: TCN-Attention-HAR: human activity recognition based on attention mechanism time convolutional network. 2024.</a:t>
            </a:r>
            <a:endParaRPr/>
          </a:p>
          <a:p>
            <a:pPr indent="0" lvl="0" marL="0" rtl="0" algn="just">
              <a:lnSpc>
                <a:spcPct val="90000"/>
              </a:lnSpc>
              <a:spcBef>
                <a:spcPts val="1000"/>
              </a:spcBef>
              <a:spcAft>
                <a:spcPts val="0"/>
              </a:spcAft>
              <a:buClr>
                <a:schemeClr val="dk1"/>
              </a:buClr>
              <a:buSzPts val="2400"/>
              <a:buNone/>
            </a:pPr>
            <a:r>
              <a:rPr lang="en-US" sz="2400"/>
              <a:t>[4] Khan et al., "Physical Human Activity Recognition Using Wearable Inertial Sensors," Sensors, 2015</a:t>
            </a:r>
            <a:endParaRPr/>
          </a:p>
          <a:p>
            <a:pPr indent="0" lvl="0" marL="0" rtl="0" algn="just">
              <a:lnSpc>
                <a:spcPct val="90000"/>
              </a:lnSpc>
              <a:spcBef>
                <a:spcPts val="1000"/>
              </a:spcBef>
              <a:spcAft>
                <a:spcPts val="0"/>
              </a:spcAft>
              <a:buClr>
                <a:schemeClr val="dk1"/>
              </a:buClr>
              <a:buSzPts val="2400"/>
              <a:buNone/>
            </a:pPr>
            <a:r>
              <a:rPr lang="en-US" sz="2400"/>
              <a:t>[5] Alarfaj et al., "Wearable Sensors Based on AI Models for Human Activity Recognition," Frontiers in AI, 2024</a:t>
            </a:r>
            <a:endParaRPr/>
          </a:p>
          <a:p>
            <a:pPr indent="0" lvl="0" marL="0" rtl="0" algn="just">
              <a:lnSpc>
                <a:spcPct val="90000"/>
              </a:lnSpc>
              <a:spcBef>
                <a:spcPts val="1000"/>
              </a:spcBef>
              <a:spcAft>
                <a:spcPts val="0"/>
              </a:spcAft>
              <a:buClr>
                <a:schemeClr val="dk1"/>
              </a:buClr>
              <a:buSzPts val="2000"/>
              <a:buNone/>
            </a:pPr>
            <a:r>
              <a:t/>
            </a:r>
            <a:endParaRPr sz="2000"/>
          </a:p>
          <a:p>
            <a:pPr indent="0" lvl="0" marL="0" rtl="0" algn="l">
              <a:lnSpc>
                <a:spcPct val="90000"/>
              </a:lnSpc>
              <a:spcBef>
                <a:spcPts val="1000"/>
              </a:spcBef>
              <a:spcAft>
                <a:spcPts val="0"/>
              </a:spcAft>
              <a:buClr>
                <a:schemeClr val="dk1"/>
              </a:buClr>
              <a:buSzPts val="2400"/>
              <a:buNone/>
            </a:pPr>
            <a:r>
              <a:t/>
            </a:r>
            <a:endParaRPr sz="2400"/>
          </a:p>
          <a:p>
            <a:pPr indent="0" lvl="0" marL="0" rtl="0" algn="l">
              <a:lnSpc>
                <a:spcPct val="90000"/>
              </a:lnSpc>
              <a:spcBef>
                <a:spcPts val="1000"/>
              </a:spcBef>
              <a:spcAft>
                <a:spcPts val="0"/>
              </a:spcAft>
              <a:buClr>
                <a:schemeClr val="dk1"/>
              </a:buClr>
              <a:buSzPts val="2400"/>
              <a:buNone/>
            </a:pPr>
            <a:r>
              <a:t/>
            </a:r>
            <a:endParaRPr sz="2400"/>
          </a:p>
          <a:p>
            <a:pPr indent="0" lvl="0" marL="0" rtl="0" algn="l">
              <a:lnSpc>
                <a:spcPct val="90000"/>
              </a:lnSpc>
              <a:spcBef>
                <a:spcPts val="1000"/>
              </a:spcBef>
              <a:spcAft>
                <a:spcPts val="0"/>
              </a:spcAft>
              <a:buClr>
                <a:schemeClr val="dk1"/>
              </a:buClr>
              <a:buSzPts val="2400"/>
              <a:buNone/>
            </a:pPr>
            <a:r>
              <a:t/>
            </a:r>
            <a:endParaRPr sz="2400"/>
          </a:p>
          <a:p>
            <a:pPr indent="0" lvl="0" marL="0" rtl="0" algn="just">
              <a:lnSpc>
                <a:spcPct val="90000"/>
              </a:lnSpc>
              <a:spcBef>
                <a:spcPts val="1000"/>
              </a:spcBef>
              <a:spcAft>
                <a:spcPts val="0"/>
              </a:spcAft>
              <a:buClr>
                <a:schemeClr val="dk1"/>
              </a:buClr>
              <a:buSzPts val="2400"/>
              <a:buNone/>
            </a:pPr>
            <a:r>
              <a:t/>
            </a:r>
            <a:endParaRPr sz="2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References</a:t>
            </a:r>
            <a:endParaRPr/>
          </a:p>
        </p:txBody>
      </p:sp>
      <p:sp>
        <p:nvSpPr>
          <p:cNvPr id="175" name="Google Shape;175;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400"/>
              <a:buFont typeface="Arial"/>
              <a:buChar char="•"/>
            </a:pPr>
            <a:r>
              <a:rPr lang="en-US" sz="2400"/>
              <a:t>[5] Akter M. et al., Human Activity Recognition Using Attention-Mechanism-Based Deep Learning Feature Combination, Sensors 2023</a:t>
            </a:r>
            <a:endParaRPr sz="2400"/>
          </a:p>
          <a:p>
            <a:pPr indent="-228600" lvl="0" marL="228600" rtl="0" algn="just">
              <a:lnSpc>
                <a:spcPct val="90000"/>
              </a:lnSpc>
              <a:spcBef>
                <a:spcPts val="1000"/>
              </a:spcBef>
              <a:spcAft>
                <a:spcPts val="0"/>
              </a:spcAft>
              <a:buClr>
                <a:schemeClr val="dk1"/>
              </a:buClr>
              <a:buSzPts val="2400"/>
              <a:buFont typeface="Arial"/>
              <a:buChar char="•"/>
            </a:pPr>
            <a:r>
              <a:rPr lang="en-US" sz="2400"/>
              <a:t>[6] Wang Y. et al., TCN-Attention-HAR: Human Activity Recognition Based on Attention Mechanism Time Convolutional Network, Expert Systems with Applications, 2024.</a:t>
            </a:r>
            <a:endParaRPr/>
          </a:p>
          <a:p>
            <a:pPr indent="-228600" lvl="0" marL="228600" rtl="0" algn="just">
              <a:lnSpc>
                <a:spcPct val="90000"/>
              </a:lnSpc>
              <a:spcBef>
                <a:spcPts val="1000"/>
              </a:spcBef>
              <a:spcAft>
                <a:spcPts val="0"/>
              </a:spcAft>
              <a:buClr>
                <a:schemeClr val="dk1"/>
              </a:buClr>
              <a:buSzPts val="2400"/>
              <a:buFont typeface="Arial"/>
              <a:buChar char="•"/>
            </a:pPr>
            <a:r>
              <a:rPr lang="en-US" sz="2400"/>
              <a:t>[7]Serpush F. et al., Wearable Sensor-Based Human Activity Recognition in the Healthcare Sector: A Survey, IEEE Sensors Journal, 2022.</a:t>
            </a:r>
            <a:endParaRPr/>
          </a:p>
          <a:p>
            <a:pPr indent="-101600" lvl="0" marL="228600" rtl="0" algn="just">
              <a:lnSpc>
                <a:spcPct val="90000"/>
              </a:lnSpc>
              <a:spcBef>
                <a:spcPts val="1000"/>
              </a:spcBef>
              <a:spcAft>
                <a:spcPts val="0"/>
              </a:spcAft>
              <a:buClr>
                <a:schemeClr val="dk1"/>
              </a:buClr>
              <a:buSzPts val="2000"/>
              <a:buFont typeface="Arial"/>
              <a:buNone/>
            </a:pPr>
            <a:r>
              <a:t/>
            </a:r>
            <a:endParaRPr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3"/>
          <p:cNvSpPr txBox="1"/>
          <p:nvPr>
            <p:ph type="title"/>
          </p:nvPr>
        </p:nvSpPr>
        <p:spPr>
          <a:xfrm>
            <a:off x="838200" y="365125"/>
            <a:ext cx="10515600" cy="543748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800"/>
              <a:buFont typeface="Calibri"/>
              <a:buNone/>
            </a:pPr>
            <a:r>
              <a:rPr b="1" lang="en-US" sz="4800"/>
              <a:t>Thankyou </a:t>
            </a:r>
            <a:endParaRPr b="1"/>
          </a:p>
        </p:txBody>
      </p:sp>
      <p:sp>
        <p:nvSpPr>
          <p:cNvPr id="181" name="Google Shape;181;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dk1"/>
              </a:buClr>
              <a:buSzPts val="1900"/>
              <a:buNone/>
            </a:pPr>
            <a:r>
              <a:t/>
            </a:r>
            <a:endParaRPr sz="1900"/>
          </a:p>
          <a:p>
            <a:pPr indent="0" lvl="0" marL="0" rtl="0" algn="just">
              <a:lnSpc>
                <a:spcPct val="100000"/>
              </a:lnSpc>
              <a:spcBef>
                <a:spcPts val="1000"/>
              </a:spcBef>
              <a:spcAft>
                <a:spcPts val="0"/>
              </a:spcAft>
              <a:buClr>
                <a:schemeClr val="dk1"/>
              </a:buClr>
              <a:buSzPts val="2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2021-06-10T05:32:34Z</dcterms:created>
  <dc:creator>Admin</dc:creator>
</cp:coreProperties>
</file>